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175504" y="1005840"/>
            <a:ext cx="1828800" cy="2011680"/>
          </a:xfrm>
          <a:prstGeom prst="hexagon">
            <a:avLst/>
          </a:prstGeom>
          <a:solidFill>
            <a:srgbClr val="16202B"/>
          </a:solidFill>
          <a:ln w="31750">
            <a:solidFill>
              <a:srgbClr val="16B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75504" y="155448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6B8C4"/>
                </a:solidFill>
                <a:latin typeface="Segoe UI"/>
              </a:rPr>
              <a:t>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28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4F7FA"/>
                </a:solidFill>
                <a:latin typeface="Segoe UI"/>
              </a:rPr>
              <a:t>ENSHIELD REVAMP — EXEC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>
                <a:solidFill>
                  <a:srgbClr val="2ED5E0"/>
                </a:solidFill>
                <a:latin typeface="Segoe UI"/>
              </a:rPr>
              <a:t>The 4-minute version — what it is, what's wrong, what we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5257800"/>
            <a:ext cx="3776472" cy="18288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628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8A97A3"/>
                </a:solidFill>
                <a:latin typeface="Segoe UI"/>
              </a:rPr>
              <a:t>Prepared for Mike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What We Have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55064" y="1179576"/>
            <a:ext cx="8887968" cy="4818888"/>
          </a:xfrm>
          <a:prstGeom prst="roundRect">
            <a:avLst/>
          </a:prstGeom>
          <a:solidFill>
            <a:srgbClr val="16202B"/>
          </a:soli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c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234440"/>
            <a:ext cx="8778240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A97A3"/>
                </a:solidFill>
                <a:latin typeface="Segoe UI"/>
              </a:rPr>
              <a:t>Insanelab-built dashboard pulling Shopify data via Gadget — Activity, KPI cards, client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The Problem &amp; The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212080" cy="4480560"/>
          </a:xfrm>
          <a:prstGeom prst="roundRect">
            <a:avLst/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D5E0"/>
                </a:solidFill>
                <a:latin typeface="Segoe UI"/>
              </a:rPr>
              <a:t>What's holding it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600" b="1">
                <a:solidFill>
                  <a:srgbClr val="F4F7FA"/>
                </a:solidFill>
                <a:latin typeface="Segoe UI"/>
              </a:rPr>
              <a:t>Efficiency — </a:t>
            </a:r>
            <a:r>
              <a:rPr sz="1600">
                <a:solidFill>
                  <a:srgbClr val="C7CED6"/>
                </a:solidFill>
                <a:latin typeface="Segoe UI"/>
              </a:rPr>
              <a:t>heavy Shopify reads on every load; no caching layer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600" b="1">
                <a:solidFill>
                  <a:srgbClr val="F4F7FA"/>
                </a:solidFill>
                <a:latin typeface="Segoe UI"/>
              </a:rPr>
              <a:t>Stale surfaces — </a:t>
            </a:r>
            <a:r>
              <a:rPr sz="1600">
                <a:solidFill>
                  <a:srgbClr val="C7CED6"/>
                </a:solidFill>
                <a:latin typeface="Segoe UI"/>
              </a:rPr>
              <a:t>KPIs recomputed client-side, slow to render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600" b="1">
                <a:solidFill>
                  <a:srgbClr val="F4F7FA"/>
                </a:solidFill>
                <a:latin typeface="Segoe UI"/>
              </a:rPr>
              <a:t>Hard to extend — </a:t>
            </a:r>
            <a:r>
              <a:rPr sz="1600">
                <a:solidFill>
                  <a:srgbClr val="C7CED6"/>
                </a:solidFill>
                <a:latin typeface="Segoe UI"/>
              </a:rPr>
              <a:t>new features mean touching raw Gadget data each time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600" b="1">
                <a:solidFill>
                  <a:srgbClr val="F4F7FA"/>
                </a:solidFill>
                <a:latin typeface="Segoe UI"/>
              </a:rPr>
              <a:t>Design drift — </a:t>
            </a:r>
            <a:r>
              <a:rPr sz="1600">
                <a:solidFill>
                  <a:srgbClr val="C7CED6"/>
                </a:solidFill>
                <a:latin typeface="Segoe UI"/>
              </a:rPr>
              <a:t>dashboard doesn't match the Enshield brand 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12080" cy="4480560"/>
          </a:xfrm>
          <a:prstGeom prst="roundRect">
            <a:avLst/>
          </a:prstGeom>
          <a:solidFill>
            <a:srgbClr val="16202B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6B8C4"/>
                </a:solidFill>
                <a:latin typeface="Segoe UI"/>
              </a:rPr>
              <a:t>What we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600" b="1">
                <a:solidFill>
                  <a:srgbClr val="F4F7FA"/>
                </a:solidFill>
                <a:latin typeface="Segoe UI"/>
              </a:rPr>
              <a:t>Aggregate in Gadget — </a:t>
            </a:r>
            <a:r>
              <a:rPr sz="1600">
                <a:solidFill>
                  <a:srgbClr val="C7CED6"/>
                </a:solidFill>
                <a:latin typeface="Segoe UI"/>
              </a:rPr>
              <a:t>pre-compute KPIs, dashboard just reads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600" b="1">
                <a:solidFill>
                  <a:srgbClr val="F4F7FA"/>
                </a:solidFill>
                <a:latin typeface="Segoe UI"/>
              </a:rPr>
              <a:t>Cache + incremental sync — </a:t>
            </a:r>
            <a:r>
              <a:rPr sz="1600">
                <a:solidFill>
                  <a:srgbClr val="C7CED6"/>
                </a:solidFill>
                <a:latin typeface="Segoe UI"/>
              </a:rPr>
              <a:t>cut redundant Shopify calls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600" b="1">
                <a:solidFill>
                  <a:srgbClr val="F4F7FA"/>
                </a:solidFill>
                <a:latin typeface="Segoe UI"/>
              </a:rPr>
              <a:t>Modular feature slots — </a:t>
            </a:r>
            <a:r>
              <a:rPr sz="1600">
                <a:solidFill>
                  <a:srgbClr val="C7CED6"/>
                </a:solidFill>
                <a:latin typeface="Segoe UI"/>
              </a:rPr>
              <a:t>add surfaces without schema surgery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600" b="1">
                <a:solidFill>
                  <a:srgbClr val="F4F7FA"/>
                </a:solidFill>
                <a:latin typeface="Segoe UI"/>
              </a:rPr>
              <a:t>Re-skin to brand — </a:t>
            </a:r>
            <a:r>
              <a:rPr sz="1600">
                <a:solidFill>
                  <a:srgbClr val="C7CED6"/>
                </a:solidFill>
                <a:latin typeface="Segoe UI"/>
              </a:rPr>
              <a:t>match the Enshield public-site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109728" cy="502920"/>
          </a:xfrm>
          <a:prstGeom prst="roundRect">
            <a:avLst/>
          </a:prstGeom>
          <a:solidFill>
            <a:srgbClr val="16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4F7FA"/>
                </a:solidFill>
                <a:latin typeface="Segoe UI"/>
              </a:rPr>
              <a:t>What I Need From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10607040" cy="2743200"/>
          </a:xfrm>
          <a:prstGeom prst="roundRect">
            <a:avLst/>
          </a:prstGeom>
          <a:solidFill>
            <a:srgbClr val="16202B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700" b="1">
                <a:solidFill>
                  <a:srgbClr val="F4F7FA"/>
                </a:solidFill>
                <a:latin typeface="Segoe UI"/>
              </a:rPr>
              <a:t>Feature wishlist — </a:t>
            </a:r>
            <a:r>
              <a:rPr sz="1700">
                <a:solidFill>
                  <a:srgbClr val="C7CED6"/>
                </a:solidFill>
                <a:latin typeface="Segoe UI"/>
              </a:rPr>
              <a:t>the exact surfaces you want added to the revamped dashboard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700" b="1">
                <a:solidFill>
                  <a:srgbClr val="F4F7FA"/>
                </a:solidFill>
                <a:latin typeface="Segoe UI"/>
              </a:rPr>
              <a:t>Access confirmed — </a:t>
            </a:r>
            <a:r>
              <a:rPr sz="1700">
                <a:solidFill>
                  <a:srgbClr val="C7CED6"/>
                </a:solidFill>
                <a:latin typeface="Segoe UI"/>
              </a:rPr>
              <a:t>Gadget + DigitalOcean + Shopify (done — full audit complete)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6B8C4"/>
                </a:solidFill>
                <a:latin typeface="Segoe UI"/>
              </a:rPr>
              <a:t>▸  </a:t>
            </a:r>
            <a:r>
              <a:rPr sz="1700" b="1">
                <a:solidFill>
                  <a:srgbClr val="F4F7FA"/>
                </a:solidFill>
                <a:latin typeface="Segoe UI"/>
              </a:rPr>
              <a:t>Priority call — </a:t>
            </a:r>
            <a:r>
              <a:rPr sz="1700">
                <a:solidFill>
                  <a:srgbClr val="C7CED6"/>
                </a:solidFill>
                <a:latin typeface="Segoe UI"/>
              </a:rPr>
              <a:t>efficiency-first refactor, or new features first?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ED5E0"/>
                </a:solidFill>
                <a:latin typeface="Segoe UI"/>
              </a:rPr>
              <a:t>Phased plan: 1) aggregate &amp; cache  →  2) re-skin  →  3) new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949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8A97A3"/>
                </a:solidFill>
                <a:latin typeface="Segoe UI"/>
              </a:rPr>
              <a:t>Full 11-slide blueprint available on request.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