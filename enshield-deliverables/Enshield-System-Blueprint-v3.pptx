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>
            <a:off x="5175504" y="1051560"/>
            <a:ext cx="1828800" cy="2011680"/>
          </a:xfrm>
          <a:prstGeom prst="hexagon">
            <a:avLst/>
          </a:prstGeom>
          <a:solidFill>
            <a:srgbClr val="16202B"/>
          </a:solidFill>
          <a:ln w="31750">
            <a:solidFill>
              <a:srgbClr val="16B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1600200"/>
            <a:ext cx="182880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16B8C4"/>
                </a:solidFill>
                <a:latin typeface="Segoe UI"/>
              </a:rPr>
              <a:t>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362895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F4F7FA"/>
                </a:solidFill>
                <a:latin typeface="Segoe UI"/>
              </a:rPr>
              <a:t>ENSHIELD SYSTEM BLUEPRINT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43400"/>
            <a:ext cx="10362895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2ED5E0"/>
                </a:solidFill>
                <a:latin typeface="Segoe UI"/>
              </a:rPr>
              <a:t>How Gadget · DigitalOcean · Shopify · Dashboard fit together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5257800"/>
            <a:ext cx="3776472" cy="18288"/>
          </a:xfrm>
          <a:prstGeom prst="round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440680"/>
            <a:ext cx="10362895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8A97A3"/>
                </a:solidFill>
                <a:latin typeface="Segoe UI"/>
              </a:rPr>
              <a:t>Findings &amp; Architecture — prepared for Mike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09728" cy="502920"/>
          </a:xfrm>
          <a:prstGeom prst="roundRect">
            <a:avLst/>
          </a:prstGeom>
          <a:solidFill>
            <a:srgbClr val="16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4F7FA"/>
                </a:solidFill>
                <a:latin typeface="Segoe UI"/>
              </a:rPr>
              <a:t>The Big Picture (TL;DR)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10607040" cy="1417320"/>
          </a:xfrm>
          <a:prstGeom prst="roundRect">
            <a:avLst/>
          </a:prstGeom>
          <a:solidFill>
            <a:srgbClr val="16202B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508760"/>
            <a:ext cx="10058400" cy="11887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C7CED6"/>
                </a:solidFill>
                <a:latin typeface="Segoe UI"/>
              </a:rPr>
              <a:t>We traced the whole Enshield stack end-to-end. There are </a:t>
            </a:r>
            <a:r>
              <a:rPr sz="1600" b="1">
                <a:solidFill>
                  <a:srgbClr val="16B8C4"/>
                </a:solidFill>
                <a:latin typeface="Segoe UI"/>
              </a:rPr>
              <a:t>two separate front-end surfaces</a:t>
            </a:r>
            <a:r>
              <a:rPr sz="1600" b="0">
                <a:solidFill>
                  <a:srgbClr val="C7CED6"/>
                </a:solidFill>
                <a:latin typeface="Segoe UI"/>
              </a:rPr>
              <a:t>, one </a:t>
            </a:r>
            <a:r>
              <a:rPr sz="1600" b="1">
                <a:solidFill>
                  <a:srgbClr val="16B8C4"/>
                </a:solidFill>
                <a:latin typeface="Segoe UI"/>
              </a:rPr>
              <a:t>Gadget backend</a:t>
            </a:r>
            <a:r>
              <a:rPr sz="1600" b="0">
                <a:solidFill>
                  <a:srgbClr val="C7CED6"/>
                </a:solidFill>
                <a:latin typeface="Segoe UI"/>
              </a:rPr>
              <a:t> holding the data &amp; logic, a </a:t>
            </a:r>
            <a:r>
              <a:rPr sz="1600" b="1">
                <a:solidFill>
                  <a:srgbClr val="16B8C4"/>
                </a:solidFill>
                <a:latin typeface="Segoe UI"/>
              </a:rPr>
              <a:t>DigitalOcean droplet</a:t>
            </a:r>
            <a:r>
              <a:rPr sz="1600" b="0">
                <a:solidFill>
                  <a:srgbClr val="C7CED6"/>
                </a:solidFill>
                <a:latin typeface="Segoe UI"/>
              </a:rPr>
              <a:t> running a parallel dashboard, and </a:t>
            </a:r>
            <a:r>
              <a:rPr sz="1600" b="1">
                <a:solidFill>
                  <a:srgbClr val="16B8C4"/>
                </a:solidFill>
                <a:latin typeface="Segoe UI"/>
              </a:rPr>
              <a:t>Shopify</a:t>
            </a:r>
            <a:r>
              <a:rPr sz="1600" b="0">
                <a:solidFill>
                  <a:srgbClr val="C7CED6"/>
                </a:solidFill>
                <a:latin typeface="Segoe UI"/>
              </a:rPr>
              <a:t> as the source of truth for stores, orders &amp; checkout.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063240"/>
            <a:ext cx="2487168" cy="2834640"/>
          </a:xfrm>
          <a:prstGeom prst="roundRect">
            <a:avLst/>
          </a:prstGeom>
          <a:solidFill>
            <a:srgbClr val="16202B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3063240"/>
            <a:ext cx="2487168" cy="128016"/>
          </a:xfrm>
          <a:prstGeom prst="roundRect">
            <a:avLst/>
          </a:prstGeom>
          <a:solidFill>
            <a:srgbClr val="16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310128"/>
            <a:ext cx="21945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4F7FA"/>
                </a:solidFill>
                <a:latin typeface="Segoe UI"/>
              </a:rPr>
              <a:t>SHOPIFY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730752"/>
            <a:ext cx="21945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ED5E0"/>
                </a:solidFill>
                <a:latin typeface="Segoe UI"/>
              </a:rPr>
              <a:t>Source of truth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206240"/>
            <a:ext cx="2194560" cy="1554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8A97A3"/>
                </a:solidFill>
                <a:latin typeface="Segoe UI"/>
              </a:rPr>
              <a:t>Stores, orders, carts,
checkout, protection product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3063240"/>
            <a:ext cx="2487168" cy="2834640"/>
          </a:xfrm>
          <a:prstGeom prst="roundRect">
            <a:avLst/>
          </a:prstGeom>
          <a:solidFill>
            <a:srgbClr val="16202B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9000" y="3063240"/>
            <a:ext cx="2487168" cy="128016"/>
          </a:xfrm>
          <a:prstGeom prst="roundRect">
            <a:avLst/>
          </a:prstGeom>
          <a:solidFill>
            <a:srgbClr val="16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3310128"/>
            <a:ext cx="21945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4F7FA"/>
                </a:solidFill>
                <a:latin typeface="Segoe UI"/>
              </a:rPr>
              <a:t>GADGET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730752"/>
            <a:ext cx="21945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ED5E0"/>
                </a:solidFill>
                <a:latin typeface="Segoe UI"/>
              </a:rPr>
              <a:t>Backend brain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4206240"/>
            <a:ext cx="2194560" cy="1554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8A97A3"/>
                </a:solidFill>
                <a:latin typeface="Segoe UI"/>
              </a:rPr>
              <a:t>Syncs data, holds models,
auto-generates the 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3063240"/>
            <a:ext cx="2487168" cy="2834640"/>
          </a:xfrm>
          <a:prstGeom prst="roundRect">
            <a:avLst/>
          </a:prstGeom>
          <a:solidFill>
            <a:srgbClr val="16202B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80760" y="3063240"/>
            <a:ext cx="2487168" cy="128016"/>
          </a:xfrm>
          <a:prstGeom prst="roundRect">
            <a:avLst/>
          </a:prstGeom>
          <a:solidFill>
            <a:srgbClr val="16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3310128"/>
            <a:ext cx="21945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4F7FA"/>
                </a:solidFill>
                <a:latin typeface="Segoe UI"/>
              </a:rPr>
              <a:t>DIGITALOCEAN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730752"/>
            <a:ext cx="21945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ED5E0"/>
                </a:solidFill>
                <a:latin typeface="Segoe UI"/>
              </a:rPr>
              <a:t>Hosting / legacy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4206240"/>
            <a:ext cx="2194560" cy="1554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8A97A3"/>
                </a:solidFill>
                <a:latin typeface="Segoe UI"/>
              </a:rPr>
              <a:t>Droplet running a
parallel dashboard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32520" y="3063240"/>
            <a:ext cx="2487168" cy="2834640"/>
          </a:xfrm>
          <a:prstGeom prst="roundRect">
            <a:avLst/>
          </a:prstGeom>
          <a:solidFill>
            <a:srgbClr val="16202B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732520" y="3063240"/>
            <a:ext cx="2487168" cy="128016"/>
          </a:xfrm>
          <a:prstGeom prst="roundRect">
            <a:avLst/>
          </a:prstGeom>
          <a:solidFill>
            <a:srgbClr val="16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15400" y="3310128"/>
            <a:ext cx="21945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4F7FA"/>
                </a:solidFill>
                <a:latin typeface="Segoe UI"/>
              </a:rPr>
              <a:t>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3730752"/>
            <a:ext cx="21945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ED5E0"/>
                </a:solidFill>
                <a:latin typeface="Segoe UI"/>
              </a:rPr>
              <a:t>Two front ends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4206240"/>
            <a:ext cx="2194560" cy="1554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8A97A3"/>
                </a:solidFill>
                <a:latin typeface="Segoe UI"/>
              </a:rPr>
              <a:t>Embedded settings page +
standalone admin UI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19088"/>
            <a:ext cx="7315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A3"/>
                </a:solidFill>
                <a:latin typeface="Segoe UI"/>
              </a:rPr>
              <a:t>ENSHIELD  ·  System Blueprint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19088"/>
            <a:ext cx="8229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A3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09728" cy="502920"/>
          </a:xfrm>
          <a:prstGeom prst="roundRect">
            <a:avLst/>
          </a:prstGeom>
          <a:solidFill>
            <a:srgbClr val="16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4F7FA"/>
                </a:solidFill>
                <a:latin typeface="Segoe UI"/>
              </a:rPr>
              <a:t>The Four Systems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5029200" cy="2514600"/>
          </a:xfrm>
          <a:prstGeom prst="roundRect">
            <a:avLst/>
          </a:prstGeom>
          <a:solidFill>
            <a:srgbClr val="16202B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63039"/>
            <a:ext cx="4572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6B8C4"/>
                </a:solidFill>
                <a:latin typeface="Segoe UI"/>
              </a:rPr>
              <a:t>1  SHOPIFY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5720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2ED5E0"/>
                </a:solidFill>
                <a:latin typeface="Segoe UI"/>
              </a:rPr>
              <a:t>Source of truth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16B8C4"/>
                </a:solidFill>
                <a:latin typeface="Segoe UI"/>
              </a:rPr>
              <a:t>▸  </a:t>
            </a:r>
            <a:r>
              <a:rPr sz="1100">
                <a:solidFill>
                  <a:srgbClr val="C7CED6"/>
                </a:solidFill>
                <a:latin typeface="Segoe UI"/>
              </a:rPr>
              <a:t>Merchants install the Enshield app on their stores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6B8C4"/>
                </a:solidFill>
                <a:latin typeface="Segoe UI"/>
              </a:rPr>
              <a:t>▸  </a:t>
            </a:r>
            <a:r>
              <a:rPr sz="1100">
                <a:solidFill>
                  <a:srgbClr val="C7CED6"/>
                </a:solidFill>
                <a:latin typeface="Segoe UI"/>
              </a:rPr>
              <a:t>Owns shops, orders, line items, carts, checkout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6B8C4"/>
                </a:solidFill>
                <a:latin typeface="Segoe UI"/>
              </a:rPr>
              <a:t>▸  </a:t>
            </a:r>
            <a:r>
              <a:rPr sz="1100">
                <a:solidFill>
                  <a:srgbClr val="C7CED6"/>
                </a:solidFill>
                <a:latin typeface="Segoe UI"/>
              </a:rPr>
              <a:t>Protection product injected at checkout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6B8C4"/>
                </a:solidFill>
                <a:latin typeface="Segoe UI"/>
              </a:rPr>
              <a:t>▸  </a:t>
            </a:r>
            <a:r>
              <a:rPr sz="1100">
                <a:solidFill>
                  <a:srgbClr val="C7CED6"/>
                </a:solidFill>
                <a:latin typeface="Segoe UI"/>
              </a:rPr>
              <a:t>Enshield reads this — it does not replace Shopify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325880"/>
            <a:ext cx="5029200" cy="2514600"/>
          </a:xfrm>
          <a:prstGeom prst="roundRect">
            <a:avLst/>
          </a:prstGeom>
          <a:solidFill>
            <a:srgbClr val="16202B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463039"/>
            <a:ext cx="4572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6B8C4"/>
                </a:solidFill>
                <a:latin typeface="Segoe UI"/>
              </a:rPr>
              <a:t>2  GADGET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828800"/>
            <a:ext cx="45720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2ED5E0"/>
                </a:solidFill>
                <a:latin typeface="Segoe UI"/>
              </a:rPr>
              <a:t>Backend / brain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9456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16B8C4"/>
                </a:solidFill>
                <a:latin typeface="Segoe UI"/>
              </a:rPr>
              <a:t>▸  </a:t>
            </a:r>
            <a:r>
              <a:rPr sz="1100">
                <a:solidFill>
                  <a:srgbClr val="C7CED6"/>
                </a:solidFill>
                <a:latin typeface="Segoe UI"/>
              </a:rPr>
              <a:t>App: enshield-shipping-protection (built on Gadget)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6B8C4"/>
                </a:solidFill>
                <a:latin typeface="Segoe UI"/>
              </a:rPr>
              <a:t>▸  </a:t>
            </a:r>
            <a:r>
              <a:rPr sz="1100">
                <a:solidFill>
                  <a:srgbClr val="C7CED6"/>
                </a:solidFill>
                <a:latin typeface="Segoe UI"/>
              </a:rPr>
              <a:t>Continuously syncs Shopify data into its models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6B8C4"/>
                </a:solidFill>
                <a:latin typeface="Segoe UI"/>
              </a:rPr>
              <a:t>▸  </a:t>
            </a:r>
            <a:r>
              <a:rPr sz="1100">
                <a:solidFill>
                  <a:srgbClr val="C7CED6"/>
                </a:solidFill>
                <a:latin typeface="Segoe UI"/>
              </a:rPr>
              <a:t>Models: shopifyShop, shopifyOrder, shopifyCart,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6B8C4"/>
                </a:solidFill>
                <a:latin typeface="Segoe UI"/>
              </a:rPr>
              <a:t>▸  </a:t>
            </a:r>
            <a:r>
              <a:rPr sz="1100">
                <a:solidFill>
                  <a:srgbClr val="C7CED6"/>
                </a:solidFill>
                <a:latin typeface="Segoe UI"/>
              </a:rPr>
              <a:t>shippingInsuranceProduct / Setting, sync, session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6B8C4"/>
                </a:solidFill>
                <a:latin typeface="Segoe UI"/>
              </a:rPr>
              <a:t>▸  </a:t>
            </a:r>
            <a:r>
              <a:rPr sz="1100">
                <a:solidFill>
                  <a:srgbClr val="C7CED6"/>
                </a:solidFill>
                <a:latin typeface="Segoe UI"/>
              </a:rPr>
              <a:t>Auto-generates the access-controlled 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977639"/>
            <a:ext cx="5029200" cy="2514600"/>
          </a:xfrm>
          <a:prstGeom prst="roundRect">
            <a:avLst/>
          </a:prstGeom>
          <a:solidFill>
            <a:srgbClr val="16202B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14800"/>
            <a:ext cx="4572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6B8C4"/>
                </a:solidFill>
                <a:latin typeface="Segoe UI"/>
              </a:rPr>
              <a:t>3  FRONT ENDS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59"/>
            <a:ext cx="45720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2ED5E0"/>
                </a:solidFill>
                <a:latin typeface="Segoe UI"/>
              </a:rPr>
              <a:t>Two surfaces (key finding)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84632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16B8C4"/>
                </a:solidFill>
                <a:latin typeface="Segoe UI"/>
              </a:rPr>
              <a:t>▸  </a:t>
            </a:r>
            <a:r>
              <a:rPr sz="1100">
                <a:solidFill>
                  <a:srgbClr val="C7CED6"/>
                </a:solidFill>
                <a:latin typeface="Segoe UI"/>
              </a:rPr>
              <a:t>A) Embedded Shopify app — 1 Polaris settings page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6B8C4"/>
                </a:solidFill>
                <a:latin typeface="Segoe UI"/>
              </a:rPr>
              <a:t>▸  </a:t>
            </a:r>
            <a:r>
              <a:rPr sz="1100">
                <a:solidFill>
                  <a:srgbClr val="C7CED6"/>
                </a:solidFill>
                <a:latin typeface="Segoe UI"/>
              </a:rPr>
              <a:t>B) Standalone admin dashboard — the dark UI with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6B8C4"/>
                </a:solidFill>
                <a:latin typeface="Segoe UI"/>
              </a:rPr>
              <a:t>▸  </a:t>
            </a:r>
            <a:r>
              <a:rPr sz="1100">
                <a:solidFill>
                  <a:srgbClr val="C7CED6"/>
                </a:solidFill>
                <a:latin typeface="Segoe UI"/>
              </a:rPr>
              <a:t>Value in Transit, Clients, Claims, Reports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6B8C4"/>
                </a:solidFill>
                <a:latin typeface="Segoe UI"/>
              </a:rPr>
              <a:t>▸  </a:t>
            </a:r>
            <a:r>
              <a:rPr sz="1100">
                <a:solidFill>
                  <a:srgbClr val="C7CED6"/>
                </a:solidFill>
                <a:latin typeface="Segoe UI"/>
              </a:rPr>
              <a:t>B is the real revamp target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977639"/>
            <a:ext cx="5029200" cy="2514600"/>
          </a:xfrm>
          <a:prstGeom prst="roundRect">
            <a:avLst/>
          </a:prstGeom>
          <a:solidFill>
            <a:srgbClr val="16202B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4114800"/>
            <a:ext cx="4572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6B8C4"/>
                </a:solidFill>
                <a:latin typeface="Segoe UI"/>
              </a:rPr>
              <a:t>4  DIGITALOCEAN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480559"/>
            <a:ext cx="45720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2ED5E0"/>
                </a:solidFill>
                <a:latin typeface="Segoe UI"/>
              </a:rPr>
              <a:t>Hosting / legacy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84632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16B8C4"/>
                </a:solidFill>
                <a:latin typeface="Segoe UI"/>
              </a:rPr>
              <a:t>▸  </a:t>
            </a:r>
            <a:r>
              <a:rPr sz="1100">
                <a:solidFill>
                  <a:srgbClr val="C7CED6"/>
                </a:solidFill>
                <a:latin typeface="Segoe UI"/>
              </a:rPr>
              <a:t>Droplet runs a version of the dashboard/backend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6B8C4"/>
                </a:solidFill>
                <a:latin typeface="Segoe UI"/>
              </a:rPr>
              <a:t>▸  </a:t>
            </a:r>
            <a:r>
              <a:rPr sz="1100">
                <a:solidFill>
                  <a:srgbClr val="C7CED6"/>
                </a:solidFill>
                <a:latin typeface="Segoe UI"/>
              </a:rPr>
              <a:t>Accessed via SSH to confirm prod setup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6B8C4"/>
                </a:solidFill>
                <a:latin typeface="Segoe UI"/>
              </a:rPr>
              <a:t>▸  </a:t>
            </a:r>
            <a:r>
              <a:rPr sz="1100">
                <a:solidFill>
                  <a:srgbClr val="C7CED6"/>
                </a:solidFill>
                <a:latin typeface="Segoe UI"/>
              </a:rPr>
              <a:t>Revamp decision: keep on DO, move to Gadget,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6B8C4"/>
                </a:solidFill>
                <a:latin typeface="Segoe UI"/>
              </a:rPr>
              <a:t>▸  </a:t>
            </a:r>
            <a:r>
              <a:rPr sz="1100">
                <a:solidFill>
                  <a:srgbClr val="C7CED6"/>
                </a:solidFill>
                <a:latin typeface="Segoe UI"/>
              </a:rPr>
              <a:t>or hybrid hosting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19088"/>
            <a:ext cx="7315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A3"/>
                </a:solidFill>
                <a:latin typeface="Segoe UI"/>
              </a:rPr>
              <a:t>ENSHIELD  ·  System Blueprint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19088"/>
            <a:ext cx="8229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A3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09728" cy="502920"/>
          </a:xfrm>
          <a:prstGeom prst="roundRect">
            <a:avLst/>
          </a:prstGeom>
          <a:solidFill>
            <a:srgbClr val="16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4F7FA"/>
                </a:solidFill>
                <a:latin typeface="Segoe UI"/>
              </a:rPr>
              <a:t>How Data Flows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234440"/>
            <a:ext cx="3200400" cy="868680"/>
          </a:xfrm>
          <a:prstGeom prst="roundRect">
            <a:avLst/>
          </a:prstGeom>
          <a:solidFill>
            <a:srgbClr val="16202B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0" y="1362456"/>
            <a:ext cx="320040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4F7FA"/>
                </a:solidFill>
                <a:latin typeface="Segoe UI"/>
              </a:rPr>
              <a:t>Merchant's Shopify 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1801368"/>
            <a:ext cx="32004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8A97A3"/>
                </a:solidFill>
                <a:latin typeface="Segoe UI"/>
              </a:rPr>
              <a:t>installs app · checkout adds protection</a:t>
            </a:r>
          </a:p>
        </p:txBody>
      </p:sp>
      <p:sp>
        <p:nvSpPr>
          <p:cNvPr id="8" name="Down Arrow 7"/>
          <p:cNvSpPr/>
          <p:nvPr/>
        </p:nvSpPr>
        <p:spPr>
          <a:xfrm>
            <a:off x="5943600" y="2194560"/>
            <a:ext cx="274320" cy="457200"/>
          </a:xfrm>
          <a:prstGeom prst="downArrow">
            <a:avLst/>
          </a:prstGeom>
          <a:solidFill>
            <a:srgbClr val="16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80560" y="2743200"/>
            <a:ext cx="3200400" cy="960120"/>
          </a:xfrm>
          <a:prstGeom prst="roundRect">
            <a:avLst/>
          </a:prstGeom>
          <a:solidFill>
            <a:srgbClr val="16202B"/>
          </a:solidFill>
          <a:ln w="19050">
            <a:solidFill>
              <a:srgbClr val="16B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871216"/>
            <a:ext cx="320040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6B8C4"/>
                </a:solidFill>
                <a:latin typeface="Segoe UI"/>
              </a:rPr>
              <a:t>SHOPIFY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3310128"/>
            <a:ext cx="32004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8A97A3"/>
                </a:solidFill>
                <a:latin typeface="Segoe UI"/>
              </a:rPr>
              <a:t>orders · carts · shops · checkout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943600" y="3794760"/>
            <a:ext cx="274320" cy="457200"/>
          </a:xfrm>
          <a:prstGeom prst="downArrow">
            <a:avLst/>
          </a:prstGeom>
          <a:solidFill>
            <a:srgbClr val="16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822191"/>
            <a:ext cx="3200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2ED5E0"/>
                </a:solidFill>
                <a:latin typeface="Segoe UI"/>
              </a:rPr>
              <a:t>webhooks / sync  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4251960"/>
            <a:ext cx="3200400" cy="1051560"/>
          </a:xfrm>
          <a:prstGeom prst="roundRect">
            <a:avLst/>
          </a:prstGeom>
          <a:solidFill>
            <a:srgbClr val="16202B"/>
          </a:solidFill>
          <a:ln w="19050">
            <a:solidFill>
              <a:srgbClr val="16B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4379976"/>
            <a:ext cx="320040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6B8C4"/>
                </a:solidFill>
                <a:latin typeface="Segoe UI"/>
              </a:rPr>
              <a:t>GADGET 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4818888"/>
            <a:ext cx="32004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8A97A3"/>
                </a:solidFill>
                <a:latin typeface="Segoe UI"/>
              </a:rPr>
              <a:t>models + auto-generated, access-controlled API</a:t>
            </a:r>
          </a:p>
        </p:txBody>
      </p:sp>
      <p:sp>
        <p:nvSpPr>
          <p:cNvPr id="17" name="Down Arrow 16"/>
          <p:cNvSpPr/>
          <p:nvPr/>
        </p:nvSpPr>
        <p:spPr>
          <a:xfrm rot="18900000">
            <a:off x="2514600" y="5486400"/>
            <a:ext cx="274320" cy="411480"/>
          </a:xfrm>
          <a:prstGeom prst="downArrow">
            <a:avLst/>
          </a:prstGeom>
          <a:solidFill>
            <a:srgbClr val="16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wn Arrow 17"/>
          <p:cNvSpPr/>
          <p:nvPr/>
        </p:nvSpPr>
        <p:spPr>
          <a:xfrm rot="2700000">
            <a:off x="9372600" y="5486400"/>
            <a:ext cx="274320" cy="411480"/>
          </a:xfrm>
          <a:prstGeom prst="downArrow">
            <a:avLst/>
          </a:prstGeom>
          <a:solidFill>
            <a:srgbClr val="16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5800" y="5806440"/>
            <a:ext cx="4114800" cy="868680"/>
          </a:xfrm>
          <a:prstGeom prst="roundRect">
            <a:avLst/>
          </a:prstGeom>
          <a:solidFill>
            <a:srgbClr val="16202B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934455"/>
            <a:ext cx="411480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4F7FA"/>
                </a:solidFill>
                <a:latin typeface="Segoe UI"/>
              </a:rPr>
              <a:t>A) Embedded Settings Page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373368"/>
            <a:ext cx="41148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8A97A3"/>
                </a:solidFill>
                <a:latin typeface="Segoe UI"/>
              </a:rPr>
              <a:t>Polaris · inside Shopify admin · 1 screen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6640" y="5806440"/>
            <a:ext cx="4114800" cy="868680"/>
          </a:xfrm>
          <a:prstGeom prst="roundRect">
            <a:avLst/>
          </a:prstGeom>
          <a:solidFill>
            <a:srgbClr val="16202B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0" y="5934455"/>
            <a:ext cx="411480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4F7FA"/>
                </a:solidFill>
                <a:latin typeface="Segoe UI"/>
              </a:rPr>
              <a:t>B) Standalone Admin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6373368"/>
            <a:ext cx="41148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8A97A3"/>
                </a:solidFill>
                <a:latin typeface="Segoe UI"/>
              </a:rPr>
              <a:t>Value in Transit · Clients · Claims · Reports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06640" y="5074920"/>
            <a:ext cx="4114800" cy="502920"/>
          </a:xfrm>
          <a:prstGeom prst="roundRect">
            <a:avLst/>
          </a:prstGeom>
          <a:noFill/>
          <a:ln w="12700">
            <a:solidFill>
              <a:srgbClr val="8A97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5120640"/>
            <a:ext cx="411480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8A97A3"/>
                </a:solidFill>
                <a:latin typeface="Segoe UI"/>
              </a:rPr>
              <a:t>hosted on / near DigitalOcean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19088"/>
            <a:ext cx="7315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A3"/>
                </a:solidFill>
                <a:latin typeface="Segoe UI"/>
              </a:rPr>
              <a:t>ENSHIELD  ·  System Blueprint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19088"/>
            <a:ext cx="8229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A3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09728" cy="502920"/>
          </a:xfrm>
          <a:prstGeom prst="roundRect">
            <a:avLst/>
          </a:prstGeom>
          <a:solidFill>
            <a:srgbClr val="16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4F7FA"/>
                </a:solidFill>
                <a:latin typeface="Segoe UI"/>
              </a:rPr>
              <a:t>Dashboard KPIs → Gadget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106070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C7CED6"/>
                </a:solidFill>
                <a:latin typeface="Segoe UI"/>
              </a:rPr>
              <a:t>Every number on the dark dashboard maps directly back to a Gadget model: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20240"/>
            <a:ext cx="10607040" cy="502920"/>
          </a:xfrm>
          <a:prstGeom prst="round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93392"/>
            <a:ext cx="2743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4F7FA"/>
                </a:solidFill>
                <a:latin typeface="Segoe UI"/>
              </a:rPr>
              <a:t>KPI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993392"/>
            <a:ext cx="5486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4F7FA"/>
                </a:solidFill>
                <a:latin typeface="Segoe UI"/>
              </a:rPr>
              <a:t>Comes from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1993392"/>
            <a:ext cx="15544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4F7FA"/>
                </a:solidFill>
                <a:latin typeface="Segoe UI"/>
              </a:rPr>
              <a:t>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423160"/>
            <a:ext cx="10607040" cy="749808"/>
          </a:xfrm>
          <a:prstGeom prst="roundRect">
            <a:avLst/>
          </a:prstGeom>
          <a:solidFill>
            <a:srgbClr val="16202B"/>
          </a:solidFill>
          <a:ln w="63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587752"/>
            <a:ext cx="28346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6B8C4"/>
                </a:solidFill>
                <a:latin typeface="Segoe UI"/>
              </a:rPr>
              <a:t>Clients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587752"/>
            <a:ext cx="56692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7CED6"/>
                </a:solidFill>
                <a:latin typeface="Segoe UI"/>
              </a:rPr>
              <a:t>count of connected shopifyShop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2587752"/>
            <a:ext cx="15544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FB950"/>
                </a:solidFill>
                <a:latin typeface="Segoe UI"/>
              </a:rPr>
              <a:t>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172968"/>
            <a:ext cx="10607040" cy="749808"/>
          </a:xfrm>
          <a:prstGeom prst="roundRect">
            <a:avLst/>
          </a:prstGeom>
          <a:solidFill>
            <a:srgbClr val="0E141B"/>
          </a:solidFill>
          <a:ln w="63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337560"/>
            <a:ext cx="28346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6B8C4"/>
                </a:solidFill>
                <a:latin typeface="Segoe UI"/>
              </a:rPr>
              <a:t>Value in Transit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337560"/>
            <a:ext cx="56692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7CED6"/>
                </a:solidFill>
                <a:latin typeface="Segoe UI"/>
              </a:rPr>
              <a:t>Σ active shippingInsuranceProduct across open orders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3337560"/>
            <a:ext cx="15544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FB950"/>
                </a:solidFill>
                <a:latin typeface="Segoe UI"/>
              </a:rPr>
              <a:t>$1,178,054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922776"/>
            <a:ext cx="10607040" cy="749808"/>
          </a:xfrm>
          <a:prstGeom prst="roundRect">
            <a:avLst/>
          </a:prstGeom>
          <a:solidFill>
            <a:srgbClr val="16202B"/>
          </a:solidFill>
          <a:ln w="63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087368"/>
            <a:ext cx="28346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6B8C4"/>
                </a:solidFill>
                <a:latin typeface="Segoe UI"/>
              </a:rPr>
              <a:t>Open Claims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4087368"/>
            <a:ext cx="56692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7CED6"/>
                </a:solidFill>
                <a:latin typeface="Segoe UI"/>
              </a:rPr>
              <a:t>claims count from the claims workflow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4087368"/>
            <a:ext cx="15544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FB950"/>
                </a:solidFill>
                <a:latin typeface="Segoe UI"/>
              </a:rPr>
              <a:t>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672584"/>
            <a:ext cx="10607040" cy="749808"/>
          </a:xfrm>
          <a:prstGeom prst="roundRect">
            <a:avLst/>
          </a:prstGeom>
          <a:solidFill>
            <a:srgbClr val="0E141B"/>
          </a:solidFill>
          <a:ln w="63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837176"/>
            <a:ext cx="28346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6B8C4"/>
                </a:solidFill>
                <a:latin typeface="Segoe UI"/>
              </a:rPr>
              <a:t>Latest Clients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4837176"/>
            <a:ext cx="56692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7CED6"/>
                </a:solidFill>
                <a:latin typeface="Segoe UI"/>
              </a:rPr>
              <a:t>shopifyShop list w/ per-shop value, claims, status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4837176"/>
            <a:ext cx="15544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FB950"/>
                </a:solidFill>
                <a:latin typeface="Segoe UI"/>
              </a:rPr>
              <a:t>table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19088"/>
            <a:ext cx="7315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A3"/>
                </a:solidFill>
                <a:latin typeface="Segoe UI"/>
              </a:rPr>
              <a:t>ENSHIELD  ·  System Blueprint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19088"/>
            <a:ext cx="8229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A3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09728" cy="502920"/>
          </a:xfrm>
          <a:prstGeom prst="roundRect">
            <a:avLst/>
          </a:prstGeom>
          <a:solidFill>
            <a:srgbClr val="16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4F7FA"/>
                </a:solidFill>
                <a:latin typeface="Segoe UI"/>
              </a:rPr>
              <a:t>What This Means for the Revamp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10607040" cy="3383280"/>
          </a:xfrm>
          <a:prstGeom prst="roundRect">
            <a:avLst/>
          </a:prstGeom>
          <a:solidFill>
            <a:srgbClr val="16202B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91640"/>
            <a:ext cx="9875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700" b="1">
                <a:solidFill>
                  <a:srgbClr val="16B8C4"/>
                </a:solidFill>
                <a:latin typeface="Segoe UI"/>
              </a:rPr>
              <a:t>▸  </a:t>
            </a:r>
            <a:r>
              <a:rPr sz="1700" b="1">
                <a:solidFill>
                  <a:srgbClr val="F4F7FA"/>
                </a:solidFill>
                <a:latin typeface="Segoe UI"/>
              </a:rPr>
              <a:t>The embedded Shopify app is tiny — </a:t>
            </a:r>
            <a:r>
              <a:rPr sz="1700">
                <a:solidFill>
                  <a:srgbClr val="C7CED6"/>
                </a:solidFill>
                <a:latin typeface="Segoe UI"/>
              </a:rPr>
              <a:t>basically one settings screen. Easy to modernize.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16B8C4"/>
                </a:solidFill>
                <a:latin typeface="Segoe UI"/>
              </a:rPr>
              <a:t>▸  </a:t>
            </a:r>
            <a:r>
              <a:rPr sz="1700" b="1">
                <a:solidFill>
                  <a:srgbClr val="F4F7FA"/>
                </a:solidFill>
                <a:latin typeface="Segoe UI"/>
              </a:rPr>
              <a:t>The real revamp target is the standalone admin dashboard </a:t>
            </a:r>
            <a:r>
              <a:rPr sz="1700">
                <a:solidFill>
                  <a:srgbClr val="C7CED6"/>
                </a:solidFill>
                <a:latin typeface="Segoe UI"/>
              </a:rPr>
              <a:t>(the dark UI). Rebuild it against the Gadget API so it always reflects live synced data.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16B8C4"/>
                </a:solidFill>
                <a:latin typeface="Segoe UI"/>
              </a:rPr>
              <a:t>▸  </a:t>
            </a:r>
            <a:r>
              <a:rPr sz="1700" b="1">
                <a:solidFill>
                  <a:srgbClr val="F4F7FA"/>
                </a:solidFill>
                <a:latin typeface="Segoe UI"/>
              </a:rPr>
              <a:t>Gadget is the backend we build on — </a:t>
            </a:r>
            <a:r>
              <a:rPr sz="1700">
                <a:solidFill>
                  <a:srgbClr val="C7CED6"/>
                </a:solidFill>
                <a:latin typeface="Segoe UI"/>
              </a:rPr>
              <a:t>add aggregation/computed actions for the KPIs and expose clean, access-controlled reads.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16B8C4"/>
                </a:solidFill>
                <a:latin typeface="Segoe UI"/>
              </a:rPr>
              <a:t>▸  </a:t>
            </a:r>
            <a:r>
              <a:rPr sz="1700" b="1">
                <a:solidFill>
                  <a:srgbClr val="F4F7FA"/>
                </a:solidFill>
                <a:latin typeface="Segoe UI"/>
              </a:rPr>
              <a:t>DigitalOcean is a hosting decision — </a:t>
            </a:r>
            <a:r>
              <a:rPr sz="1700">
                <a:solidFill>
                  <a:srgbClr val="C7CED6"/>
                </a:solidFill>
                <a:latin typeface="Segoe UI"/>
              </a:rPr>
              <a:t>keep, migrate to Gadget hosting, or hybrid.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A3"/>
                </a:solidFill>
                <a:latin typeface="Segoe UI"/>
              </a:rPr>
              <a:t>ENSHIELD  ·  System Blueprint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8229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A3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09728" cy="502920"/>
          </a:xfrm>
          <a:prstGeom prst="roundRect">
            <a:avLst/>
          </a:prstGeom>
          <a:solidFill>
            <a:srgbClr val="16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4F7FA"/>
                </a:solidFill>
                <a:latin typeface="Segoe UI"/>
              </a:rPr>
              <a:t>Phased Plan &amp; Open Questions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6126480" cy="4663440"/>
          </a:xfrm>
          <a:prstGeom prst="roundRect">
            <a:avLst/>
          </a:prstGeom>
          <a:solidFill>
            <a:srgbClr val="16202B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56692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6B8C4"/>
                </a:solidFill>
                <a:latin typeface="Segoe UI"/>
              </a:rPr>
              <a:t>Phased Plan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057400"/>
            <a:ext cx="91440" cy="685800"/>
          </a:xfrm>
          <a:prstGeom prst="roundRect">
            <a:avLst/>
          </a:prstGeom>
          <a:solidFill>
            <a:srgbClr val="16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057400"/>
            <a:ext cx="5486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4F7FA"/>
                </a:solidFill>
                <a:latin typeface="Segoe UI"/>
              </a:rPr>
              <a:t>Phase 1 — Architecture lock-in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386584"/>
            <a:ext cx="5486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A97A3"/>
                </a:solidFill>
                <a:latin typeface="Segoe UI"/>
              </a:rPr>
              <a:t>confirm target surface + hosting; reuse audit report as baseline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2971800"/>
            <a:ext cx="91440" cy="685800"/>
          </a:xfrm>
          <a:prstGeom prst="roundRect">
            <a:avLst/>
          </a:prstGeom>
          <a:solidFill>
            <a:srgbClr val="16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2971800"/>
            <a:ext cx="5486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4F7FA"/>
                </a:solidFill>
                <a:latin typeface="Segoe UI"/>
              </a:rPr>
              <a:t>Phase 2 — Backend (Gadget)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300984"/>
            <a:ext cx="5486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A97A3"/>
                </a:solidFill>
                <a:latin typeface="Segoe UI"/>
              </a:rPr>
              <a:t>aggregation actions for KPIs; clean access-controlled read 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3886200"/>
            <a:ext cx="91440" cy="685800"/>
          </a:xfrm>
          <a:prstGeom prst="roundRect">
            <a:avLst/>
          </a:prstGeom>
          <a:solidFill>
            <a:srgbClr val="16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3886200"/>
            <a:ext cx="5486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4F7FA"/>
                </a:solidFill>
                <a:latin typeface="Segoe UI"/>
              </a:rPr>
              <a:t>Phase 3 — Frontend revamp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215384"/>
            <a:ext cx="5486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A97A3"/>
                </a:solidFill>
                <a:latin typeface="Segoe UI"/>
              </a:rPr>
              <a:t>rebuild dashboard on Gadget API; modernize settings page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4800600"/>
            <a:ext cx="91440" cy="685800"/>
          </a:xfrm>
          <a:prstGeom prst="roundRect">
            <a:avLst/>
          </a:prstGeom>
          <a:solidFill>
            <a:srgbClr val="16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4800600"/>
            <a:ext cx="5486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4F7FA"/>
                </a:solidFill>
                <a:latin typeface="Segoe UI"/>
              </a:rPr>
              <a:t>Phase 4 — New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5129784"/>
            <a:ext cx="5486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A97A3"/>
                </a:solidFill>
                <a:latin typeface="Segoe UI"/>
              </a:rPr>
              <a:t>implement Brain's feature list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78040" y="1325880"/>
            <a:ext cx="4206240" cy="4663440"/>
          </a:xfrm>
          <a:prstGeom prst="roundRect">
            <a:avLst/>
          </a:prstGeom>
          <a:solidFill>
            <a:srgbClr val="16202B"/>
          </a:solidFill>
          <a:ln w="12700">
            <a:solidFill>
              <a:srgbClr val="16B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1463040"/>
            <a:ext cx="3749039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ED5E0"/>
                </a:solidFill>
                <a:latin typeface="Segoe UI"/>
              </a:rPr>
              <a:t>Need from Brain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2103120"/>
            <a:ext cx="374903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400" b="1">
                <a:solidFill>
                  <a:srgbClr val="16B8C4"/>
                </a:solidFill>
                <a:latin typeface="Segoe UI"/>
              </a:rPr>
              <a:t>▸  </a:t>
            </a:r>
            <a:r>
              <a:rPr sz="1400">
                <a:solidFill>
                  <a:srgbClr val="C7CED6"/>
                </a:solidFill>
                <a:latin typeface="Segoe UI"/>
              </a:rPr>
              <a:t>Feature list — what to add/change?</a:t>
            </a:r>
          </a:p>
          <a:p>
            <a:pPr>
              <a:spcAft>
                <a:spcPts val="1800"/>
              </a:spcAft>
            </a:pPr>
            <a:r>
              <a:rPr sz="1400" b="1">
                <a:solidFill>
                  <a:srgbClr val="16B8C4"/>
                </a:solidFill>
                <a:latin typeface="Segoe UI"/>
              </a:rPr>
              <a:t>▸  </a:t>
            </a:r>
            <a:r>
              <a:rPr sz="1400">
                <a:solidFill>
                  <a:srgbClr val="C7CED6"/>
                </a:solidFill>
                <a:latin typeface="Segoe UI"/>
              </a:rPr>
              <a:t>Target surface — dashboard, embedded app, or both?</a:t>
            </a:r>
          </a:p>
          <a:p>
            <a:pPr>
              <a:spcAft>
                <a:spcPts val="1800"/>
              </a:spcAft>
            </a:pPr>
            <a:r>
              <a:rPr sz="1400" b="1">
                <a:solidFill>
                  <a:srgbClr val="16B8C4"/>
                </a:solidFill>
                <a:latin typeface="Segoe UI"/>
              </a:rPr>
              <a:t>▸  </a:t>
            </a:r>
            <a:r>
              <a:rPr sz="1400">
                <a:solidFill>
                  <a:srgbClr val="C7CED6"/>
                </a:solidFill>
                <a:latin typeface="Segoe UI"/>
              </a:rPr>
              <a:t>Hosting — DigitalOcean, Gadget, or hybrid?</a:t>
            </a:r>
          </a:p>
          <a:p>
            <a:pPr>
              <a:spcAft>
                <a:spcPts val="1800"/>
              </a:spcAft>
            </a:pPr>
            <a:r>
              <a:rPr sz="1400" b="1">
                <a:solidFill>
                  <a:srgbClr val="16B8C4"/>
                </a:solidFill>
                <a:latin typeface="Segoe UI"/>
              </a:rPr>
              <a:t>▸  </a:t>
            </a:r>
            <a:r>
              <a:rPr sz="1400">
                <a:solidFill>
                  <a:srgbClr val="C7CED6"/>
                </a:solidFill>
                <a:latin typeface="Segoe UI"/>
              </a:rPr>
              <a:t>Where the revamped code lives?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19088"/>
            <a:ext cx="7315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A3"/>
                </a:solidFill>
                <a:latin typeface="Segoe UI"/>
              </a:rPr>
              <a:t>ENSHIELD  ·  System Blueprint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19088"/>
            <a:ext cx="8229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A3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09728" cy="502920"/>
          </a:xfrm>
          <a:prstGeom prst="roundRect">
            <a:avLst/>
          </a:prstGeom>
          <a:solidFill>
            <a:srgbClr val="16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4F7FA"/>
                </a:solidFill>
                <a:latin typeface="Segoe UI"/>
              </a:rPr>
              <a:t>The Dashboard Today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55064" y="1179576"/>
            <a:ext cx="8887967" cy="4818888"/>
          </a:xfrm>
          <a:prstGeom prst="roundRect">
            <a:avLst/>
          </a:prstGeom>
          <a:solidFill>
            <a:srgbClr val="16202B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ock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928" y="1234440"/>
            <a:ext cx="8778240" cy="4709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080760"/>
            <a:ext cx="106070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8A97A3"/>
                </a:solidFill>
                <a:latin typeface="Segoe UI"/>
              </a:rPr>
              <a:t>Current Insanelab dashboard — Activity chart, KPI cards (Clients · Value in Transit · Open Claims), Latest Clients table. This is what we're revamping.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09728" cy="502920"/>
          </a:xfrm>
          <a:prstGeom prst="roundRect">
            <a:avLst/>
          </a:prstGeom>
          <a:solidFill>
            <a:srgbClr val="16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4F7FA"/>
                </a:solidFill>
                <a:latin typeface="Segoe UI"/>
              </a:rPr>
              <a:t>The Public Site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55064" y="1179576"/>
            <a:ext cx="8887967" cy="4818888"/>
          </a:xfrm>
          <a:prstGeom prst="roundRect">
            <a:avLst/>
          </a:prstGeom>
          <a:solidFill>
            <a:srgbClr val="16202B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ock_home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928" y="1234440"/>
            <a:ext cx="8778240" cy="4709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080760"/>
            <a:ext cx="106070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8A97A3"/>
                </a:solidFill>
                <a:latin typeface="Segoe UI"/>
              </a:rPr>
              <a:t>Enshield marketing homepage — the brand/design language the revamped dashboard should echo.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09728" cy="502920"/>
          </a:xfrm>
          <a:prstGeom prst="roundRect">
            <a:avLst/>
          </a:prstGeom>
          <a:solidFill>
            <a:srgbClr val="16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4F7FA"/>
                </a:solidFill>
                <a:latin typeface="Segoe UI"/>
              </a:rPr>
              <a:t>The Gadget Backend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55064" y="1179576"/>
            <a:ext cx="8887967" cy="4818888"/>
          </a:xfrm>
          <a:prstGeom prst="roundRect">
            <a:avLst/>
          </a:prstGeom>
          <a:solidFill>
            <a:srgbClr val="16202B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ock_ga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928" y="1234440"/>
            <a:ext cx="8778240" cy="4709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080760"/>
            <a:ext cx="106070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8A97A3"/>
                </a:solidFill>
                <a:latin typeface="Segoe UI"/>
              </a:rPr>
              <a:t>Gadget apps list — per-merchant Shopify apps + the enshield-shipping-protection core. This is the real data source behind the dashboard.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206240" y="3246120"/>
            <a:ext cx="3776472" cy="27432"/>
          </a:xfrm>
          <a:prstGeom prst="roundRect">
            <a:avLst/>
          </a:prstGeom>
          <a:solidFill>
            <a:srgbClr val="16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362895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4F7FA"/>
                </a:solidFill>
                <a:latin typeface="Segoe UI"/>
              </a:rPr>
              <a:t>One system. Four moving parts.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10362895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2ED5E0"/>
                </a:solidFill>
                <a:latin typeface="Segoe UI"/>
              </a:rPr>
              <a:t>Shopify feeds Gadget · Gadget powers the dashboards · DO hosts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362895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8A97A3"/>
                </a:solidFill>
                <a:latin typeface="Segoe UI"/>
              </a:rPr>
              <a:t>Answer the four questions and we start building.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